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03720" y="91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4E0"/>
                </a:solidFill>
              </a:rPr>
              <a:t>BIG DATA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03720" y="4754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Industrial IoT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315200" y="137160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766560" y="2560320"/>
            <a:ext cx="822960" cy="8229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7955280" y="2834640"/>
            <a:ext cx="731520" cy="731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1005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Thermal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365760" y="1737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System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36576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·  Apache Spark  ·  HDFS  ·  Predictive AI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65760" y="3246120"/>
            <a:ext cx="4114800" cy="594360"/>
          </a:xfrm>
          <a:prstGeom prst="rect">
            <a:avLst/>
          </a:prstGeom>
          <a:solidFill>
            <a:srgbClr val="0099B8"/>
          </a:solidFill>
          <a:ln w="12700">
            <a:solidFill>
              <a:srgbClr val="0099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365760" y="3246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Protect Machines · Prevent Downtime · Extend Asset Life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4C4"/>
                </a:solidFill>
              </a:rPr>
              <a:t>Big Data Engineering Team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Why temperature control is mission-critical for industrial machines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06040" cy="1965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Components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Machine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06040" cy="1965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789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24612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Cost of a Single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Unplanned Outage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960120"/>
            <a:ext cx="2606040" cy="1965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789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17220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Time to Restart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After Failure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108960"/>
            <a:ext cx="8503920" cy="512064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638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15468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</a:rPr>
              <a:t>Each component operates within a narrow safe temperature band — even small deviations cause irreversible damage.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0040" y="3703320"/>
            <a:ext cx="8503920" cy="512064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7490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</a:rPr>
              <a:t>No real-time visibility across thousands of components means failures aren't detected until it's too late.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20040" y="4297680"/>
            <a:ext cx="8503920" cy="512064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52544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0120" y="434340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</a:rPr>
              <a:t>Machines like EUV Lithography systems take weeks to repair — every hour of downtime halts entire production lines.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TARGET MACHINES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Industries and machines where this system provides critical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12347"/>
          </a:solidFill>
          <a:ln w="1270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⭐  Primary Use Case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1790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Extreme Ultraviolet (EUV)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Lithography Machines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28600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F0F8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100,000+ precision components per unit
</a:t>
            </a:r>
            <a:pPr indent="0" marL="0">
              <a:buNone/>
            </a:pPr>
            <a:r>
              <a:rPr lang="en-US" sz="1100" b="1" dirty="0">
                <a:solidFill>
                  <a:srgbClr val="E8F0F8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Components range: Optics, Mirrors, Plasma Sources, Reflective Masks
</a:t>
            </a:r>
            <a:pPr indent="0" marL="0">
              <a:buNone/>
            </a:pPr>
            <a:r>
              <a:rPr lang="en-US" sz="1100" b="1" dirty="0">
                <a:solidFill>
                  <a:srgbClr val="E8F0F8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Temperature tolerance: ±0.1°C in some zones
</a:t>
            </a:r>
            <a:pPr indent="0" marL="0">
              <a:buNone/>
            </a:pPr>
            <a:r>
              <a:rPr lang="en-US" sz="1100" b="1" dirty="0">
                <a:solidFill>
                  <a:srgbClr val="E8F0F8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Single unit value: $150M+ — downtime costs millions per day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9875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Other Industrial Applications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453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508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</a:rPr>
              <a:t>CNC Machining Centers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34924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Spindles, motors, coolant circuits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2176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</a:rPr>
              <a:t>High-Performance Computing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349240" y="2450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GPU clusters, power units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803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28437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</a:rPr>
              <a:t>Semiconductor Fabs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349240" y="31181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Deposition, etch, CVD chambers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54787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511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</a:rPr>
              <a:t>Power Generation Plants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349240" y="37856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Turbines, generators, transformers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215384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41788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</a:rPr>
              <a:t>Aerospace Manufacturing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349240" y="44531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Composite curing ovens, test rigs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29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End-to-end data flow from IoT sensors to intelligent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1325880" cy="34747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3167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IoT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Sensors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08760" y="1719072"/>
            <a:ext cx="91440" cy="0"/>
          </a:xfrm>
          <a:prstGeom prst="line">
            <a:avLst/>
          </a:prstGeom>
          <a:noFill/>
          <a:ln w="22860">
            <a:solidFill>
              <a:srgbClr val="00C4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020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00200" y="914400"/>
            <a:ext cx="1325880" cy="347472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96" y="13167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Apache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Kafka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926080" y="1719072"/>
            <a:ext cx="91440" cy="0"/>
          </a:xfrm>
          <a:prstGeom prst="line">
            <a:avLst/>
          </a:prstGeom>
          <a:noFill/>
          <a:ln w="22860">
            <a:solidFill>
              <a:srgbClr val="00C4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1752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017520" y="914400"/>
            <a:ext cx="1325880" cy="347472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1752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16" y="13167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01752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Apache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Spark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343400" y="1719072"/>
            <a:ext cx="91440" cy="0"/>
          </a:xfrm>
          <a:prstGeom prst="line">
            <a:avLst/>
          </a:prstGeom>
          <a:noFill/>
          <a:ln w="22860">
            <a:solidFill>
              <a:srgbClr val="00C4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43484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434840" y="914400"/>
            <a:ext cx="1325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3484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1316736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43484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HDFS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Storage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760720" y="1719072"/>
            <a:ext cx="91440" cy="0"/>
          </a:xfrm>
          <a:prstGeom prst="line">
            <a:avLst/>
          </a:prstGeom>
          <a:noFill/>
          <a:ln w="22860">
            <a:solidFill>
              <a:srgbClr val="00C4E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85216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852160" y="914400"/>
            <a:ext cx="132588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85216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356" y="1316736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5216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Models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7178040" y="1719072"/>
            <a:ext cx="91440" cy="0"/>
          </a:xfrm>
          <a:prstGeom prst="line">
            <a:avLst/>
          </a:prstGeom>
          <a:noFill/>
          <a:ln w="22860">
            <a:solidFill>
              <a:srgbClr val="00C4E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269480" y="914400"/>
            <a:ext cx="1325880" cy="155448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269480" y="914400"/>
            <a:ext cx="1325880" cy="34747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269480" y="9144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676" y="1316736"/>
            <a:ext cx="475488" cy="4754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69480" y="183794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F0F8"/>
                </a:solidFill>
              </a:rPr>
              <a:t>&amp; Alerts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182880" y="2578608"/>
            <a:ext cx="3017520" cy="274320"/>
          </a:xfrm>
          <a:prstGeom prst="rect">
            <a:avLst/>
          </a:prstGeom>
          <a:solidFill>
            <a:srgbClr val="00C4E0">
              <a:alpha val="20000"/>
            </a:srgbClr>
          </a:solidFill>
          <a:ln w="6350">
            <a:solidFill>
              <a:srgbClr val="00C4E0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182880" y="2578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0C4E0"/>
                </a:solidFill>
              </a:rPr>
              <a:t>INGESTION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3017520" y="2578608"/>
            <a:ext cx="1325880" cy="274320"/>
          </a:xfrm>
          <a:prstGeom prst="rect">
            <a:avLst/>
          </a:prstGeom>
          <a:solidFill>
            <a:srgbClr val="0099B8">
              <a:alpha val="20000"/>
            </a:srgbClr>
          </a:solidFill>
          <a:ln w="6350">
            <a:solidFill>
              <a:srgbClr val="0099B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017520" y="2578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099B8"/>
                </a:solidFill>
              </a:rPr>
              <a:t>PROCESSING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4434840" y="2578608"/>
            <a:ext cx="1325880" cy="274320"/>
          </a:xfrm>
          <a:prstGeom prst="rect">
            <a:avLst/>
          </a:prstGeom>
          <a:solidFill>
            <a:srgbClr val="1A3A6B">
              <a:alpha val="20000"/>
            </a:srgbClr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434840" y="2578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A3A6B"/>
                </a:solidFill>
              </a:rPr>
              <a:t>STORAGE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5852160" y="2578608"/>
            <a:ext cx="274320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85216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855F7"/>
                </a:solidFill>
              </a:rPr>
              <a:t>INTELLIGENCE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182880" y="2999232"/>
            <a:ext cx="2103120" cy="19659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127248"/>
            <a:ext cx="384048" cy="38404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77240" y="3127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E0"/>
                </a:solidFill>
              </a:rPr>
              <a:t>Every 3 Seconds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2743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Sensor reading frequency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182880" y="4114800"/>
            <a:ext cx="210312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2423160" y="2999232"/>
            <a:ext cx="2103120" cy="19659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127248"/>
            <a:ext cx="384048" cy="38404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3017520" y="3127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E0"/>
                </a:solidFill>
              </a:rPr>
              <a:t>Rule-Based + ML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251460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Dual-layer anomaly detection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2423160" y="4114800"/>
            <a:ext cx="210312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4663440" y="2999232"/>
            <a:ext cx="2103120" cy="19659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127248"/>
            <a:ext cx="384048" cy="38404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257800" y="3127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E0"/>
                </a:solidFill>
              </a:rPr>
              <a:t>Instant Alerts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47548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Multi-channel notifications</a:t>
            </a:r>
            <a:endParaRPr lang="en-US" sz="950" dirty="0"/>
          </a:p>
        </p:txBody>
      </p:sp>
      <p:sp>
        <p:nvSpPr>
          <p:cNvPr id="62" name="Shape 51"/>
          <p:cNvSpPr/>
          <p:nvPr/>
        </p:nvSpPr>
        <p:spPr>
          <a:xfrm>
            <a:off x="4663440" y="4114800"/>
            <a:ext cx="210312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903720" y="2999232"/>
            <a:ext cx="2103120" cy="19659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3127248"/>
            <a:ext cx="384048" cy="38404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7498080" y="3127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E0"/>
                </a:solidFill>
              </a:rPr>
              <a:t>Predictive AI</a:t>
            </a:r>
            <a:endParaRPr lang="en-US" sz="1100" dirty="0"/>
          </a:p>
        </p:txBody>
      </p:sp>
      <p:sp>
        <p:nvSpPr>
          <p:cNvPr id="66" name="Text 54"/>
          <p:cNvSpPr/>
          <p:nvPr/>
        </p:nvSpPr>
        <p:spPr>
          <a:xfrm>
            <a:off x="69951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4"/>
                </a:solidFill>
              </a:rPr>
              <a:t>Failure prevention 1hr ahead</a:t>
            </a:r>
            <a:endParaRPr lang="en-US" sz="950" dirty="0"/>
          </a:p>
        </p:txBody>
      </p:sp>
      <p:sp>
        <p:nvSpPr>
          <p:cNvPr id="67" name="Shape 55"/>
          <p:cNvSpPr/>
          <p:nvPr/>
        </p:nvSpPr>
        <p:spPr>
          <a:xfrm>
            <a:off x="6903720" y="4114800"/>
            <a:ext cx="210312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8" name="Text 56"/>
          <p:cNvSpPr/>
          <p:nvPr/>
        </p:nvSpPr>
        <p:spPr>
          <a:xfrm>
            <a:off x="256032" y="4142232"/>
            <a:ext cx="19659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Sensors → Kafka topics: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temp-data, alerts,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system-events</a:t>
            </a:r>
            <a:endParaRPr lang="en-US" sz="850" dirty="0"/>
          </a:p>
        </p:txBody>
      </p:sp>
      <p:sp>
        <p:nvSpPr>
          <p:cNvPr id="69" name="Text 57"/>
          <p:cNvSpPr/>
          <p:nvPr/>
        </p:nvSpPr>
        <p:spPr>
          <a:xfrm>
            <a:off x="2496312" y="4142232"/>
            <a:ext cx="19659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Spark Streaming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10s sliding windows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and anomaly rules</a:t>
            </a:r>
            <a:endParaRPr lang="en-US" sz="850" dirty="0"/>
          </a:p>
        </p:txBody>
      </p:sp>
      <p:sp>
        <p:nvSpPr>
          <p:cNvPr id="70" name="Text 58"/>
          <p:cNvSpPr/>
          <p:nvPr/>
        </p:nvSpPr>
        <p:spPr>
          <a:xfrm>
            <a:off x="4736592" y="4142232"/>
            <a:ext cx="19659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HDFS stores raw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processed data,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alerts history, ML data</a:t>
            </a:r>
            <a:endParaRPr lang="en-US" sz="850" dirty="0"/>
          </a:p>
        </p:txBody>
      </p:sp>
      <p:sp>
        <p:nvSpPr>
          <p:cNvPr id="71" name="Text 59"/>
          <p:cNvSpPr/>
          <p:nvPr/>
        </p:nvSpPr>
        <p:spPr>
          <a:xfrm>
            <a:off x="6976872" y="4142232"/>
            <a:ext cx="19659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Model 1: Failure prediction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Model 2: Cooling control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MLlib / MLflow</a:t>
            </a:r>
            <a:endParaRPr lang="en-US" sz="850" dirty="0"/>
          </a:p>
        </p:txBody>
      </p:sp>
      <p:sp>
        <p:nvSpPr>
          <p:cNvPr id="72" name="Text 60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LAYER 1 — IoT SENSORS &amp; DATA SOURCE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Temperature sensors are embedded into every critical component of the machine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51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35"/>
                </a:solidFill>
              </a:rPr>
              <a:t>Sensor Specifications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600200"/>
            <a:ext cx="3931920" cy="5303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459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0"/>
                </a:solidFill>
              </a:rPr>
              <a:t>Reading Frequency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8653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</a:rPr>
              <a:t>Every 3 seconds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212848"/>
            <a:ext cx="3931920" cy="5303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258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0"/>
                </a:solidFill>
              </a:rPr>
              <a:t>Data Format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4780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</a:rPr>
              <a:t>JSON (sensor_id, temperature, timestamp)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825496"/>
            <a:ext cx="3931920" cy="5303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8712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0"/>
                </a:solidFill>
              </a:rPr>
              <a:t>Components Monitored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090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</a:rPr>
              <a:t>100,000+ per machine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38144"/>
            <a:ext cx="3931920" cy="5303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48386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0"/>
                </a:solidFill>
              </a:rPr>
              <a:t>Communication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703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</a:rPr>
              <a:t>Secure wireless transmission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050792"/>
            <a:ext cx="3931920" cy="5303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0965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0"/>
                </a:solidFill>
              </a:rPr>
              <a:t>Coverage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3159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</a:rPr>
              <a:t>All critical sub-assemblies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112347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24128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32120" y="1051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Monitored Components (EUV Example)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1572768"/>
            <a:ext cx="393192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46320" y="157276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55080" y="15727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086600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Warning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909560" y="15727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46320" y="1920240"/>
            <a:ext cx="3931920" cy="475488"/>
          </a:xfrm>
          <a:prstGeom prst="rect">
            <a:avLst/>
          </a:prstGeom>
          <a:solidFill>
            <a:srgbClr val="0E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92040" y="19202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Laser Module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73368" y="192024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20–40°C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104888" y="1920240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</a:rPr>
              <a:t>41–45°C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927848" y="1920240"/>
            <a:ext cx="75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&gt;45°C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46320" y="2450592"/>
            <a:ext cx="3931920" cy="475488"/>
          </a:xfrm>
          <a:prstGeom prst="rect">
            <a:avLst/>
          </a:prstGeom>
          <a:solidFill>
            <a:srgbClr val="112347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92040" y="24505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Optics / Mirrors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6373368" y="245059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18–38°C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7104888" y="245059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</a:rPr>
              <a:t>39–43°C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927848" y="2450592"/>
            <a:ext cx="75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&gt;43°C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846320" y="2980944"/>
            <a:ext cx="3931920" cy="475488"/>
          </a:xfrm>
          <a:prstGeom prst="rect">
            <a:avLst/>
          </a:prstGeom>
          <a:solidFill>
            <a:srgbClr val="0E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92040" y="29809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Vacuum Chamber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373368" y="298094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20–50°C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104888" y="2980944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</a:rPr>
              <a:t>51–55°C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927848" y="2980944"/>
            <a:ext cx="75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&gt;55°C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846320" y="3511296"/>
            <a:ext cx="3931920" cy="475488"/>
          </a:xfrm>
          <a:prstGeom prst="rect">
            <a:avLst/>
          </a:prstGeom>
          <a:solidFill>
            <a:srgbClr val="112347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892040" y="35112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Wafer Stage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6373368" y="35112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20–45°C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104888" y="3511296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</a:rPr>
              <a:t>46–50°C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7927848" y="3511296"/>
            <a:ext cx="75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&gt;50°C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846320" y="4041648"/>
            <a:ext cx="3931920" cy="475488"/>
          </a:xfrm>
          <a:prstGeom prst="rect">
            <a:avLst/>
          </a:prstGeom>
          <a:solidFill>
            <a:srgbClr val="0E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92040" y="40416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Power Supply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6373368" y="404164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20–60°C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7104888" y="404164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</a:rPr>
              <a:t>61–65°C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927848" y="4041648"/>
            <a:ext cx="75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&gt;65°C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LAYER 2 — APACHE KAFKA  (Ingestion)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High-throughput, fault-tolerant message broker receiving all sensor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463040"/>
          </a:xfrm>
          <a:prstGeom prst="rect">
            <a:avLst/>
          </a:prstGeom>
          <a:solidFill>
            <a:srgbClr val="112347"/>
          </a:solidFill>
          <a:ln w="2540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111556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E0"/>
                </a:solidFill>
              </a:rPr>
              <a:t>Apache Kafka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375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4"/>
                </a:solidFill>
              </a:rPr>
              <a:t>localhost:9092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20240" y="1737360"/>
            <a:ext cx="1280160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737360"/>
            <a:ext cx="1280160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234440"/>
            <a:ext cx="15544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IoT Sensors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(100K+)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315200" y="1234440"/>
            <a:ext cx="15544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130759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Apache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Spark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Kafka Topics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74320" y="3063240"/>
            <a:ext cx="2788920" cy="169164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063240"/>
            <a:ext cx="2788920" cy="38404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30632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temp-data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4048" y="352044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Raw temperature readings from all sensors in real time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00400" y="3063240"/>
            <a:ext cx="2788920" cy="169164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0" y="3063240"/>
            <a:ext cx="2788920" cy="384048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0" y="30632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alerts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10128" y="352044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Triggered when a threshold is crossed (WARNING / CRITICAL)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126480" y="3063240"/>
            <a:ext cx="2788920" cy="1691640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26480" y="3063240"/>
            <a:ext cx="27889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26480" y="30632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system-events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236208" y="352044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Machine state changes, maintenance flags, control signals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576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E0"/>
                </a:solidFill>
              </a:rPr>
              <a:t>✓  High-Throughput Streaming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320040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E0"/>
                </a:solidFill>
              </a:rPr>
              <a:t>✓  Durable &amp; Fault-Tolerant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03504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E0"/>
                </a:solidFill>
              </a:rPr>
              <a:t>✓  Decouples Producers &amp; Consumers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LAYER 3 — APACHE SPARK  (Stream Processing)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Real-time structured streaming pipeline with anomaly detection and windowed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14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9509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 Spark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12070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Connect to Kafka package; engine initialization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55448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55448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54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1591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Define JSON 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18470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sensor_id · temperature · timestamp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9456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945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22311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from Kafka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" y="24871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Subscribe to topic temp-data on localhost:9092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83464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3464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346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" y="2871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Parse 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" y="31272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Convert raw bytes → structured columns using schema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47472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47472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747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" y="35112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Filter Invalid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" y="3767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Remove null, missing, or out-of-range (0–200°C)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411480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11480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1148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" y="41513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Timestamps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" y="44074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processed_at (now) + event_time (Unix → readable)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91440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91440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914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30952" y="9509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Moving Average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30952" y="12070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10s window / 5s slide · avg temp per sensor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1554480"/>
            <a:ext cx="4297680" cy="566928"/>
          </a:xfrm>
          <a:prstGeom prst="rect">
            <a:avLst/>
          </a:prstGeom>
          <a:solidFill>
            <a:srgbClr val="112347"/>
          </a:solidFill>
          <a:ln w="2540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1554480"/>
            <a:ext cx="457200" cy="566928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554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30952" y="1591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35"/>
                </a:solidFill>
              </a:rPr>
              <a:t>Anomaly Detection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30952" y="18470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NORMAL &lt;80°C  |  WARNING ≥80°C  |  CRITICAL ≥90°C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219456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19456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1945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30952" y="22311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 Alerts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30952" y="24871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Push WARNING/CRITICAL rows to console every 3s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0600" y="283464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283464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8346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30952" y="2871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 Averages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30952" y="31272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Stream windowed avg for continuous sensor monitoring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00600" y="3474720"/>
            <a:ext cx="4297680" cy="56692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00600" y="3474720"/>
            <a:ext cx="457200" cy="56692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4747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30952" y="35112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Keep Alive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330952" y="3767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awaitAnyTermination() — runs until manual stop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LAYER 4 — HDFS  (Storage)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Hadoop Distributed File System — scalable, fault-tolerant long-term data lake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914400"/>
            <a:ext cx="1645920" cy="164592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1097280"/>
            <a:ext cx="960120" cy="960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914400"/>
            <a:ext cx="1965960" cy="173736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914400"/>
            <a:ext cx="1965960" cy="36576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914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Raw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(Immutable)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1371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All incoming sensor readings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stored as-is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2880360"/>
            <a:ext cx="1965960" cy="1737360"/>
          </a:xfrm>
          <a:prstGeom prst="rect">
            <a:avLst/>
          </a:prstGeom>
          <a:solidFill>
            <a:srgbClr val="11234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2880360"/>
            <a:ext cx="19659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Processed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(Parquet / ORC)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0040" y="333756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Cleaned, enriched, indexed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for fast querying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0" y="914400"/>
            <a:ext cx="1965960" cy="173736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0" y="914400"/>
            <a:ext cx="1965960" cy="365760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914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Alerts &amp;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History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49440" y="1371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All WARNING &amp; CRITICAL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with timestamps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0" y="2880360"/>
            <a:ext cx="1965960" cy="1737360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0" y="2880360"/>
            <a:ext cx="196596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ML Models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Training Data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49440" y="333756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Feature sets and trained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model artifacts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29000" y="3154680"/>
            <a:ext cx="1965960" cy="1737360"/>
          </a:xfrm>
          <a:prstGeom prst="rect">
            <a:avLst/>
          </a:prstGeom>
          <a:solidFill>
            <a:srgbClr val="11234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29000" y="3154680"/>
            <a:ext cx="19659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154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System Logs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Configurations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520440" y="36118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Kafka offsets, Spark state,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machine configs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28600" y="4617720"/>
            <a:ext cx="1993392" cy="38404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663440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0080" y="46451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Highly Scalable  –  Add nodes as data grows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441448" y="4617720"/>
            <a:ext cx="1993392" cy="38404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466344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852928" y="46451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Fault Tolerant  –  Replication across nodes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4654296" y="4617720"/>
            <a:ext cx="1993392" cy="38404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663440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65776" y="46451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Cost Effective  –  Commodity hardware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6867144" y="4617720"/>
            <a:ext cx="1993392" cy="38404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4663440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278624" y="46451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Long-term Retention  –  Years of historical data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MODEL 1 — Predictive Maintenance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Runs hourly · Predicts which components are at risk of heat-related failure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371600" cy="137160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15568"/>
            <a:ext cx="694944" cy="694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4E0"/>
                </a:solidFill>
              </a:rPr>
              <a:t>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4E0"/>
                </a:solidFill>
              </a:rPr>
              <a:t>Hourly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987552"/>
            <a:ext cx="1463040" cy="1234440"/>
          </a:xfrm>
          <a:prstGeom prst="rect">
            <a:avLst/>
          </a:prstGeom>
          <a:solidFill>
            <a:srgbClr val="11234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20240" y="987552"/>
            <a:ext cx="14630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137160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HDFS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Historical Data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10712" y="1618488"/>
            <a:ext cx="182880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987552"/>
            <a:ext cx="1463040" cy="123444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987552"/>
            <a:ext cx="1463040" cy="329184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137160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10912" y="1618488"/>
            <a:ext cx="182880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987552"/>
            <a:ext cx="1463040" cy="1234440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20640" y="987552"/>
            <a:ext cx="1463040" cy="3291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137160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ML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(Prediction)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11112" y="1618488"/>
            <a:ext cx="182880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987552"/>
            <a:ext cx="1463040" cy="123444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20840" y="987552"/>
            <a:ext cx="1463040" cy="329184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0840" y="137160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0F8"/>
                </a:solidFill>
              </a:rPr>
              <a:t>Assessment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75320" y="987552"/>
            <a:ext cx="685800" cy="12344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137160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7B35"/>
                </a:solidFill>
              </a:rPr>
              <a:t>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7B35"/>
                </a:solidFill>
              </a:rPr>
              <a:t>Out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202168" y="1618488"/>
            <a:ext cx="91440" cy="0"/>
          </a:xfrm>
          <a:prstGeom prst="line">
            <a:avLst/>
          </a:prstGeom>
          <a:noFill/>
          <a:ln w="19050">
            <a:solidFill>
              <a:srgbClr val="FF7B3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2514600"/>
            <a:ext cx="4251960" cy="111556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06040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686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Temperature Trend Analysis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68680" y="29535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Analyzes historical rising/falling patterns per component to detect gradual overheating before it becomes critical.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736592" y="2514600"/>
            <a:ext cx="4251960" cy="111556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606040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30952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Component Failure Prediction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330952" y="29535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Predicts which specific parts (e.g. Laser Module, Optics) are likely to fail if current thermal trends continue.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274320" y="3749040"/>
            <a:ext cx="4251960" cy="111556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40480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686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Proactive Alert Generation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868680" y="41879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Issues warnings up to 1 hour ahead of predicted failure, giving maintenance teams time to act.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736592" y="3749040"/>
            <a:ext cx="4251960" cy="111556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840480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30952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HDFS as Training Source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330952" y="41879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All stored raw + processed sensor data feeds into model retraining, improving accuracy over time.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MODEL 2 — Intelligent Cooling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Continuously optimizes lab HVAC settings to maintain safe ambient conditions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Factors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538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Machine Zone Temps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86968" y="16824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Live readings from all sensors inside the lab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500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 Ambient Temp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86968" y="2578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Current internal temperature of the facility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4320" y="3090672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" y="31638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Geographic Location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86968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Outdoor temp, humidity, seasonal climate data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74320" y="3986784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4223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968" y="4059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Production Load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86968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Machine workload intensity and duty cycles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749040" y="1783080"/>
            <a:ext cx="1645920" cy="1645920"/>
          </a:xfrm>
          <a:prstGeom prst="ellipse">
            <a:avLst/>
          </a:prstGeom>
          <a:solidFill>
            <a:srgbClr val="112347"/>
          </a:solidFill>
          <a:ln w="3175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965960"/>
            <a:ext cx="960120" cy="9601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4904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FF"/>
                </a:solidFill>
              </a:rPr>
              <a:t>Cooling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FFF"/>
                </a:solidFill>
              </a:rPr>
              <a:t>AI Model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520440" y="2606040"/>
            <a:ext cx="182880" cy="0"/>
          </a:xfrm>
          <a:prstGeom prst="line">
            <a:avLst/>
          </a:prstGeom>
          <a:noFill/>
          <a:ln w="19050">
            <a:solidFill>
              <a:srgbClr val="00BFF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440680" y="2606040"/>
            <a:ext cx="182880" cy="0"/>
          </a:xfrm>
          <a:prstGeom prst="line">
            <a:avLst/>
          </a:prstGeom>
          <a:noFill/>
          <a:ln w="19050">
            <a:solidFill>
              <a:srgbClr val="00BF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669280" y="1298448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45389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81928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</a:rPr>
              <a:t>HVAC Set-Points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281928" y="16824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Target temperature values for each cooling zone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5669280" y="2194560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350008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81928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</a:rPr>
              <a:t>Airflow Adjustments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281928" y="2578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Direct airflow where heat concentration is detected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5669280" y="3090672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3246120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81928" y="31638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</a:rPr>
              <a:t>Preventive Warnings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6281928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Early alerts before ambient temp affects machines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5669280" y="3986784"/>
            <a:ext cx="3200400" cy="749808"/>
          </a:xfrm>
          <a:prstGeom prst="rect">
            <a:avLst/>
          </a:prstGeom>
          <a:solidFill>
            <a:srgbClr val="112347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4142232"/>
            <a:ext cx="384048" cy="38404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281928" y="4059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</a:rPr>
              <a:t>Efficiency Reports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6281928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Energy usage vs. cooling performance analytics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E2040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Goal: Keep the entire lab environment within the optimal temperature envelope — protecting machines before sensor thresholds are even reached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ALERTING &amp; THRESHOLD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Rule-based detection with three severity levels — every breach triggers a targeted response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2331720"/>
          </a:xfrm>
          <a:prstGeom prst="rect">
            <a:avLst/>
          </a:prstGeom>
          <a:solidFill>
            <a:srgbClr val="112347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889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75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9875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NORMAL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&lt; 80°C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Within safe operating range.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No action required.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Continuous monitoring active.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914400"/>
            <a:ext cx="2788920" cy="2331720"/>
          </a:xfrm>
          <a:prstGeom prst="rect">
            <a:avLst/>
          </a:prstGeom>
          <a:solidFill>
            <a:srgbClr val="112347"/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914400"/>
            <a:ext cx="2788920" cy="5486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98755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9875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WARNING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0040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107"/>
                </a:solidFill>
              </a:rPr>
              <a:t>≥ 80°C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33756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Approaching risk zone.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Alert sent to operations team.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Spark filters and flags this row.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914400"/>
            <a:ext cx="2788920" cy="2331720"/>
          </a:xfrm>
          <a:prstGeom prst="rect">
            <a:avLst/>
          </a:prstGeom>
          <a:solidFill>
            <a:srgbClr val="112347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914400"/>
            <a:ext cx="27889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875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9875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CRITICAL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26480" y="1508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≥ 90°C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6364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Immediate risk of damage.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Emergency alert triggered.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Automatic escalation to on-call team.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274320" y="34015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Notification Channels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274320" y="3767328"/>
            <a:ext cx="2029968" cy="11430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8404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4320" y="43342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B35"/>
                </a:solidFill>
              </a:rPr>
              <a:t>Dashboard Alerts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74320" y="4617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Live on monitoring screen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487168" y="3767328"/>
            <a:ext cx="2029968" cy="11430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384048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487168" y="43342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B35"/>
                </a:solidFill>
              </a:rPr>
              <a:t>Email / SMS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2487168" y="4617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To on-call engineers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700016" y="3767328"/>
            <a:ext cx="2029968" cy="11430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56" y="384048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700016" y="43342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B35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700016" y="4617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Instant team notifications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6912864" y="3767328"/>
            <a:ext cx="2029968" cy="11430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3840480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912864" y="43342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B35"/>
                </a:solidFill>
              </a:rPr>
              <a:t>Auto-Escalation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6912864" y="4617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Severity-based routing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ANALYTICS &amp; VISUALIZATION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Real-time Grafana dashboards + historical analytics powered by stored HDFS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3977640"/>
          </a:xfrm>
          <a:prstGeom prst="rect">
            <a:avLst/>
          </a:prstGeom>
          <a:solidFill>
            <a:srgbClr val="11234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502920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50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⬤ LIVE DASHBOARD — Grafana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28600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72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Laser Module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4721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38°C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856232"/>
            <a:ext cx="210312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56232"/>
            <a:ext cx="1156716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75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55% of max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80360" y="1417320"/>
            <a:ext cx="228600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472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Optics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14721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C107"/>
                </a:solidFill>
              </a:rPr>
              <a:t>41°C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1856232"/>
            <a:ext cx="210312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1856232"/>
            <a:ext cx="1514246" cy="1828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075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72% of max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560320"/>
            <a:ext cx="228600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15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Vacuum Chamber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26151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B35"/>
                </a:solidFill>
              </a:rPr>
              <a:t>52°C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999232"/>
            <a:ext cx="210312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999232"/>
            <a:ext cx="1682496" cy="182880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80% of max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2560320"/>
            <a:ext cx="228600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615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Wafer Stage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26151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C107"/>
                </a:solidFill>
              </a:rPr>
              <a:t>48°C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2999232"/>
            <a:ext cx="210312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999232"/>
            <a:ext cx="1577340" cy="1828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75% of max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703320"/>
            <a:ext cx="47548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39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Temperature Trend — Last 24h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23410"/>
            <a:ext cx="304800" cy="59436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000" y="4363974"/>
            <a:ext cx="304800" cy="-41605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6800" y="4405579"/>
            <a:ext cx="304800" cy="8321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22369"/>
            <a:ext cx="304800" cy="77267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76400" y="4245102"/>
            <a:ext cx="304800" cy="-41605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81200" y="4286707"/>
            <a:ext cx="304800" cy="8321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4203497"/>
            <a:ext cx="304800" cy="47549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90800" y="4155948"/>
            <a:ext cx="304800" cy="-59436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95600" y="4215384"/>
            <a:ext cx="304800" cy="71323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144061"/>
            <a:ext cx="304800" cy="-41605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05200" y="4185666"/>
            <a:ext cx="304800" cy="77267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10000" y="4108399"/>
            <a:ext cx="304800" cy="-47549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4155948"/>
            <a:ext cx="304800" cy="71323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19600" y="4084625"/>
            <a:ext cx="304800" cy="-41605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914400"/>
            <a:ext cx="3383280" cy="397764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23560" y="987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Features</a:t>
            </a:r>
            <a:endParaRPr lang="en-US" sz="12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90472"/>
            <a:ext cx="320040" cy="32004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6035040" y="1453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E0"/>
                </a:solidFill>
              </a:rPr>
              <a:t>Live Temperature Monitoring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0350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Per-component readings refreshed every 3s</a:t>
            </a:r>
            <a:endParaRPr lang="en-US" sz="900" dirty="0"/>
          </a:p>
        </p:txBody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8840"/>
            <a:ext cx="320040" cy="32004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6035040" y="21122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E0"/>
                </a:solidFill>
              </a:rPr>
              <a:t>Component Health Status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603504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Color-coded health map of all machine zones</a:t>
            </a:r>
            <a:endParaRPr lang="en-US" sz="900" dirty="0"/>
          </a:p>
        </p:txBody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807208"/>
            <a:ext cx="320040" cy="32004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603504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E0"/>
                </a:solidFill>
              </a:rPr>
              <a:t>Alerts &amp; Notifications Panel</a:t>
            </a:r>
            <a:endParaRPr lang="en-US" sz="1050" dirty="0"/>
          </a:p>
        </p:txBody>
      </p:sp>
      <p:sp>
        <p:nvSpPr>
          <p:cNvPr id="59" name="Text 54"/>
          <p:cNvSpPr/>
          <p:nvPr/>
        </p:nvSpPr>
        <p:spPr>
          <a:xfrm>
            <a:off x="6035040" y="3054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Real-time WARNING/CRITICAL event feed</a:t>
            </a:r>
            <a:endParaRPr lang="en-US" sz="900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465576"/>
            <a:ext cx="320040" cy="320040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60350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E0"/>
                </a:solidFill>
              </a:rPr>
              <a:t>Historical Trends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6035040" y="3712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Days, weeks, months of sensor history</a:t>
            </a:r>
            <a:endParaRPr lang="en-US" sz="90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4123944"/>
            <a:ext cx="320040" cy="320040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6035040" y="4087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E0"/>
                </a:solidFill>
              </a:rPr>
              <a:t>Predictive Insights</a:t>
            </a:r>
            <a:endParaRPr lang="en-US" sz="1050" dirty="0"/>
          </a:p>
        </p:txBody>
      </p:sp>
      <p:sp>
        <p:nvSpPr>
          <p:cNvPr id="65" name="Text 58"/>
          <p:cNvSpPr/>
          <p:nvPr/>
        </p:nvSpPr>
        <p:spPr>
          <a:xfrm>
            <a:off x="6035040" y="4370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ML model outputs — what's at risk next</a:t>
            </a:r>
            <a:endParaRPr lang="en-US" sz="900" dirty="0"/>
          </a:p>
        </p:txBody>
      </p:sp>
      <p:sp>
        <p:nvSpPr>
          <p:cNvPr id="66" name="Text 59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Measurable impact on operations, maintenance, and machine longevity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1261872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4E0"/>
                </a:solidFill>
              </a:rPr>
              <a:t>Prevent Costly Downtime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24128" y="135331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Early anomaly detection catches thermal issues before they cascade into machine failure, keeping production lines running.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36592" y="914400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914400"/>
            <a:ext cx="73152" cy="1261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0241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Protect Critical Assets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0" y="135331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Continuous monitoring across 100K+ components ensures each part operates within its safe thermal envelope, extending asset life significantly.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304288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304288"/>
            <a:ext cx="73152" cy="126187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401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3957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35"/>
                </a:solidFill>
              </a:rPr>
              <a:t>Ensure Production Continuity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024128" y="27432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By avoiding unplanned stops, supply chains remain uninterrupted and delivery schedules are maintained for high-value products like semiconductors.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36592" y="2304288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36592" y="2304288"/>
            <a:ext cx="73152" cy="12618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41401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3957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</a:rPr>
              <a:t>Data-Driven Maintenance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0" y="27432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Replace reactive repairs with predictive scheduling — teams are dispatched only when AI models identify genuine risk, reducing unnecessary work.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74320" y="3694176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694176"/>
            <a:ext cx="73152" cy="126187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0390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37856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FF"/>
                </a:solidFill>
              </a:rPr>
              <a:t>Extended Machine Lifespan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024128" y="4133088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Optimal thermal management dramatically slows component wear, helping $150M+ machines operate at peak performance for longer periods.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36592" y="3694176"/>
            <a:ext cx="4251960" cy="1261872"/>
          </a:xfrm>
          <a:prstGeom prst="rect">
            <a:avLst/>
          </a:prstGeom>
          <a:solidFill>
            <a:srgbClr val="112347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36592" y="3694176"/>
            <a:ext cx="73152" cy="12618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803904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37856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107"/>
                </a:solidFill>
              </a:rPr>
              <a:t>Continuous AI Improvement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0" y="4133088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Every failure event feeds back into the training data, making models more accurate over time and reducing false positives and missed alerts.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</a:rPr>
              <a:t>Production-grade, industry-proven Big Data and AI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00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24128"/>
            <a:ext cx="731520" cy="731520"/>
          </a:xfrm>
          <a:prstGeom prst="ellipse">
            <a:avLst/>
          </a:prstGeom>
          <a:solidFill>
            <a:srgbClr val="00C4E0">
              <a:alpha val="20000"/>
            </a:srgbClr>
          </a:solidFill>
          <a:ln w="19050">
            <a:solidFill>
              <a:srgbClr val="00C4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069848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 Kafka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1645920" cy="256032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Ingestion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576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High-throughput distributed message broker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50592" y="91440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FF7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90672" y="1024128"/>
            <a:ext cx="731520" cy="731520"/>
          </a:xfrm>
          <a:prstGeom prst="ellipse">
            <a:avLst/>
          </a:prstGeom>
          <a:solidFill>
            <a:srgbClr val="FF7B35">
              <a:alpha val="20000"/>
            </a:srgbClr>
          </a:solidFill>
          <a:ln w="19050">
            <a:solidFill>
              <a:srgbClr val="FF7B3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69848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 Spark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633472" y="2148840"/>
            <a:ext cx="1645920" cy="25603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33472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Stream Processing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42032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Real-time structured streaming with Scala/Python APIs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626864" y="91440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66944" y="1024128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069848"/>
            <a:ext cx="603504" cy="6035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HDFS (Hadoop)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09744" y="2148840"/>
            <a:ext cx="16459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09744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Storage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18304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Distributed file system — fault tolerant, scalable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803136" y="91440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43216" y="1024128"/>
            <a:ext cx="731520" cy="731520"/>
          </a:xfrm>
          <a:prstGeom prst="ellipse">
            <a:avLst/>
          </a:prstGeom>
          <a:solidFill>
            <a:srgbClr val="A855F7">
              <a:alpha val="20000"/>
            </a:srgbClr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069848"/>
            <a:ext cx="603504" cy="6035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94576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MLlib / MLflow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986016" y="2148840"/>
            <a:ext cx="1645920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986016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AI / ML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894576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Spark-native ML library with experiment tracking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274320" y="292608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14400" y="3035808"/>
            <a:ext cx="731520" cy="73152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081528"/>
            <a:ext cx="603504" cy="60350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6576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Grafana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57200" y="4160520"/>
            <a:ext cx="1645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57200" y="4160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6576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Real-time dashboards connected to HDFS &amp; Kafka streams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450592" y="292608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090672" y="3035808"/>
            <a:ext cx="731520" cy="731520"/>
          </a:xfrm>
          <a:prstGeom prst="ellipse">
            <a:avLst/>
          </a:prstGeom>
          <a:solidFill>
            <a:srgbClr val="FFC107">
              <a:alpha val="20000"/>
            </a:srgbClr>
          </a:solidFill>
          <a:ln w="19050">
            <a:solidFill>
              <a:srgbClr val="FFC107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081528"/>
            <a:ext cx="603504" cy="60350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542032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/ Scala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2633472" y="4160520"/>
            <a:ext cx="1645920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2633472" y="4160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Development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2542032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Primary languages for data pipelines and ML models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4626864" y="292608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5266944" y="3035808"/>
            <a:ext cx="731520" cy="731520"/>
          </a:xfrm>
          <a:prstGeom prst="ellipse">
            <a:avLst/>
          </a:prstGeom>
          <a:solidFill>
            <a:srgbClr val="00BFFF">
              <a:alpha val="20000"/>
            </a:srgbClr>
          </a:solidFill>
          <a:ln w="19050">
            <a:solidFill>
              <a:srgbClr val="00BFFF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3081528"/>
            <a:ext cx="603504" cy="60350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718304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4809744" y="4160520"/>
            <a:ext cx="1645920" cy="25603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4809744" y="4160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Containerization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4718304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Each service packaged as an isolated container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6803136" y="2926080"/>
            <a:ext cx="2011680" cy="1828800"/>
          </a:xfrm>
          <a:prstGeom prst="rect">
            <a:avLst/>
          </a:prstGeom>
          <a:solidFill>
            <a:srgbClr val="112347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7443216" y="3035808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3081528"/>
            <a:ext cx="603504" cy="603504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894576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Kubernetes</a:t>
            </a:r>
            <a:endParaRPr lang="en-US" sz="1050" dirty="0"/>
          </a:p>
        </p:txBody>
      </p:sp>
      <p:sp>
        <p:nvSpPr>
          <p:cNvPr id="59" name="Shape 49"/>
          <p:cNvSpPr/>
          <p:nvPr/>
        </p:nvSpPr>
        <p:spPr>
          <a:xfrm>
            <a:off x="6986016" y="4160520"/>
            <a:ext cx="1645920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6986016" y="4160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A1628"/>
                </a:solidFill>
              </a:rPr>
              <a:t>Orchestration</a:t>
            </a:r>
            <a:endParaRPr lang="en-US" sz="800" dirty="0"/>
          </a:p>
        </p:txBody>
      </p:sp>
      <p:sp>
        <p:nvSpPr>
          <p:cNvPr id="61" name="Text 51"/>
          <p:cNvSpPr/>
          <p:nvPr/>
        </p:nvSpPr>
        <p:spPr>
          <a:xfrm>
            <a:off x="6894576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4"/>
                </a:solidFill>
              </a:rPr>
              <a:t>Auto-scaling, self-healing deployment at industry scale</a:t>
            </a:r>
            <a:endParaRPr lang="en-US" sz="750" dirty="0"/>
          </a:p>
        </p:txBody>
      </p:sp>
      <p:sp>
        <p:nvSpPr>
          <p:cNvPr id="62" name="Text 52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4E0"/>
                </a:solidFill>
              </a:rPr>
              <a:t>A complete end-to-end Big Data solution for industrial-grade thermal protection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FF7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72768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B35"/>
                </a:solidFill>
              </a:rPr>
              <a:t>Sensors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Every 3s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399032" y="1920240"/>
            <a:ext cx="384048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10512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00C4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572768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19072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4E0"/>
                </a:solidFill>
              </a:rPr>
              <a:t>Kafka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719072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Ingest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843784" y="1920240"/>
            <a:ext cx="384048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55264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00C4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572768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63824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4E0"/>
                </a:solidFill>
              </a:rPr>
              <a:t>Spark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163824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Process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288536" y="1920240"/>
            <a:ext cx="384048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0016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72768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08576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HDFS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608576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Store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733288" y="1920240"/>
            <a:ext cx="384048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44768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72768"/>
            <a:ext cx="585216" cy="585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53328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AI Models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053328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Predict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7178040" y="1920240"/>
            <a:ext cx="384048" cy="0"/>
          </a:xfrm>
          <a:prstGeom prst="line">
            <a:avLst/>
          </a:prstGeom>
          <a:noFill/>
          <a:ln w="19050">
            <a:solidFill>
              <a:srgbClr val="00C4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589520" y="1417320"/>
            <a:ext cx="1005840" cy="1005840"/>
          </a:xfrm>
          <a:prstGeom prst="ellipse">
            <a:avLst/>
          </a:prstGeom>
          <a:solidFill>
            <a:srgbClr val="112347"/>
          </a:solidFill>
          <a:ln w="25400">
            <a:solidFill>
              <a:srgbClr val="FF7B3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1572768"/>
            <a:ext cx="585216" cy="5852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2468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B35"/>
                </a:solidFill>
              </a:rPr>
              <a:t>Alerts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7498080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4"/>
                </a:solidFill>
              </a:rPr>
              <a:t>Act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65760" y="3127248"/>
            <a:ext cx="8412480" cy="36576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65760" y="3127248"/>
            <a:ext cx="45720" cy="36576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30352" y="31272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Real-time monitoring of 100K+ components with 3-second sensor refresh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65760" y="3566160"/>
            <a:ext cx="45720" cy="36576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30352" y="35661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Two AI models: predictive maintenance + intelligent cooling control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365760" y="4005072"/>
            <a:ext cx="8412480" cy="365760"/>
          </a:xfrm>
          <a:prstGeom prst="rect">
            <a:avLst/>
          </a:prstGeom>
          <a:solidFill>
            <a:srgbClr val="11234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65760" y="4005072"/>
            <a:ext cx="45720" cy="36576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30352" y="40050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Full data pipeline: Kafka → Spark → HDFS → Alerts → Dashboard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365760" y="4443984"/>
            <a:ext cx="8412480" cy="3657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65760" y="4443984"/>
            <a:ext cx="45720" cy="365760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30352" y="44439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Prevents catastrophic failures, extends asset life, ensures production continuity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RESOURCES &amp;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29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4C4"/>
                </a:solidFill>
              </a:rPr>
              <a:t>Add your references, papers, and documentation links here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4320" y="251460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301752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352044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402336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4526280"/>
            <a:ext cx="859536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686800" y="4754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4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Thermal Protection System</dc:title>
  <dc:subject>PptxGenJS Presentation</dc:subject>
  <dc:creator>Big Data Team</dc:creator>
  <cp:lastModifiedBy>Big Data Team</cp:lastModifiedBy>
  <cp:revision>1</cp:revision>
  <dcterms:created xsi:type="dcterms:W3CDTF">2026-05-06T20:03:31Z</dcterms:created>
  <dcterms:modified xsi:type="dcterms:W3CDTF">2026-05-06T20:03:31Z</dcterms:modified>
</cp:coreProperties>
</file>